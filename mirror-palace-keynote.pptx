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6C5CE7">
              <a:alpha val="8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548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4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MIRROR PALACE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AI Agents How You Work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0" y="3108960"/>
            <a:ext cx="2743200" cy="27432"/>
          </a:xfrm>
          <a:prstGeom prst="rect">
            <a:avLst/>
          </a:prstGeom>
          <a:solidFill>
            <a:srgbClr val="4ECDC4">
              <a:alpha val="5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 O'Neal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Cognitive Framework Toolkit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6B6B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remembers your projects.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remember your patterns.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657600" cy="20116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377440"/>
            <a:ext cx="3657600" cy="54864"/>
          </a:xfrm>
          <a:prstGeom prst="rect">
            <a:avLst/>
          </a:prstGeom>
          <a:solidFill>
            <a:srgbClr val="9999B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060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2560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&amp; deadlines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events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repositories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notes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846320" y="2377440"/>
            <a:ext cx="3657600" cy="20116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46320" y="2377440"/>
            <a:ext cx="3657600" cy="54864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60604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2560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SELF-KNOWLEDGE MEMORY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120640" y="310896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 patterns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 triggers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rhythms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dynamics</a:t>
            </a:r>
            <a:endParaRPr lang="en-US" sz="14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31546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27432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73152" cy="274320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280160"/>
            <a:ext cx="6858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understands HOW you operate can do more in a 3-minute briefing than a task manager does in a year.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188720" y="41148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more data. Better interpretation.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MIRROR PALACE 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cognitive framework toolkit for AI agents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920240" cy="14630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1920240" cy="45720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373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2240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45720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06040" y="1554480"/>
            <a:ext cx="1920240" cy="14630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606040" y="1554480"/>
            <a:ext cx="1920240" cy="45720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73736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06040" y="2240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600" dirty="0"/>
          </a:p>
        </p:txBody>
      </p:sp>
      <p:sp>
        <p:nvSpPr>
          <p:cNvPr id="14" name="Text 10"/>
          <p:cNvSpPr/>
          <p:nvPr/>
        </p:nvSpPr>
        <p:spPr>
          <a:xfrm>
            <a:off x="260604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Archetypes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754880" y="1554480"/>
            <a:ext cx="1920240" cy="14630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54880" y="1554480"/>
            <a:ext cx="1920240" cy="45720"/>
          </a:xfrm>
          <a:prstGeom prst="rect">
            <a:avLst/>
          </a:prstGeom>
          <a:solidFill>
            <a:srgbClr val="FFD93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73736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754880" y="2240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3600" dirty="0"/>
          </a:p>
        </p:txBody>
      </p:sp>
      <p:sp>
        <p:nvSpPr>
          <p:cNvPr id="19" name="Text 14"/>
          <p:cNvSpPr/>
          <p:nvPr/>
        </p:nvSpPr>
        <p:spPr>
          <a:xfrm>
            <a:off x="475488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Domains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903720" y="1554480"/>
            <a:ext cx="1920240" cy="14630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03720" y="1554480"/>
            <a:ext cx="1920240" cy="45720"/>
          </a:xfrm>
          <a:prstGeom prst="rect">
            <a:avLst/>
          </a:prstGeom>
          <a:solidFill>
            <a:srgbClr val="6C5CE7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737360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903720" y="2240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600" dirty="0"/>
          </a:p>
        </p:txBody>
      </p:sp>
      <p:sp>
        <p:nvSpPr>
          <p:cNvPr id="24" name="Text 18"/>
          <p:cNvSpPr/>
          <p:nvPr/>
        </p:nvSpPr>
        <p:spPr>
          <a:xfrm>
            <a:off x="690372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Skills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57200" y="3383280"/>
            <a:ext cx="1920240" cy="1280160"/>
          </a:xfrm>
          <a:prstGeom prst="rect">
            <a:avLst/>
          </a:prstGeom>
          <a:solidFill>
            <a:srgbClr val="4ECDC4">
              <a:alpha val="15000"/>
            </a:srgbClr>
          </a:solidFill>
          <a:ln/>
        </p:spPr>
      </p:sp>
      <p:sp>
        <p:nvSpPr>
          <p:cNvPr id="26" name="Text 20"/>
          <p:cNvSpPr/>
          <p:nvPr/>
        </p:nvSpPr>
        <p:spPr>
          <a:xfrm>
            <a:off x="4572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48640" y="3840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frameworks across 15 categories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2606040" y="3383280"/>
            <a:ext cx="1920240" cy="1280160"/>
          </a:xfrm>
          <a:prstGeom prst="rect">
            <a:avLst/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260604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2697480" y="3840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life domains, people, decisions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754880" y="3383280"/>
            <a:ext cx="1920240" cy="1280160"/>
          </a:xfrm>
          <a:prstGeom prst="rect">
            <a:avLst/>
          </a:prstGeom>
          <a:solidFill>
            <a:srgbClr val="6C5CE7">
              <a:alpha val="15000"/>
            </a:srgbClr>
          </a:solidFill>
          <a:ln/>
        </p:spPr>
      </p:sp>
      <p:sp>
        <p:nvSpPr>
          <p:cNvPr id="32" name="Text 26"/>
          <p:cNvSpPr/>
          <p:nvPr/>
        </p:nvSpPr>
        <p:spPr>
          <a:xfrm>
            <a:off x="475488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4846320" y="3840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archetypes monitoring your data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6903720" y="3383280"/>
            <a:ext cx="1920240" cy="1280160"/>
          </a:xfrm>
          <a:prstGeom prst="rect">
            <a:avLst/>
          </a:prstGeom>
          <a:solidFill>
            <a:srgbClr val="FFD93D">
              <a:alpha val="15000"/>
            </a:srgbClr>
          </a:solidFill>
          <a:ln/>
        </p:spPr>
      </p:sp>
      <p:sp>
        <p:nvSpPr>
          <p:cNvPr id="35" name="Text 29"/>
          <p:cNvSpPr/>
          <p:nvPr/>
        </p:nvSpPr>
        <p:spPr>
          <a:xfrm>
            <a:off x="690372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00" dirty="0"/>
          </a:p>
        </p:txBody>
      </p:sp>
      <p:sp>
        <p:nvSpPr>
          <p:cNvPr id="36" name="Text 30"/>
          <p:cNvSpPr/>
          <p:nvPr/>
        </p:nvSpPr>
        <p:spPr>
          <a:xfrm>
            <a:off x="6995160" y="3840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Scan, Setup, Create skills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PHILOSOPHY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1965960" cy="23774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88720"/>
            <a:ext cx="196596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3716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8745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2377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patterns. See what's actually happening.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514600" y="1188720"/>
            <a:ext cx="1965960" cy="23774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14600" y="1188720"/>
            <a:ext cx="1965960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2" name="Text 9"/>
          <p:cNvSpPr/>
          <p:nvPr/>
        </p:nvSpPr>
        <p:spPr>
          <a:xfrm>
            <a:off x="2514600" y="13716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8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8745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14600" y="2377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65176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space. Respond rather than react.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754880" y="1188720"/>
            <a:ext cx="1965960" cy="23774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754880" y="1188720"/>
            <a:ext cx="196596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8" name="Text 14"/>
          <p:cNvSpPr/>
          <p:nvPr/>
        </p:nvSpPr>
        <p:spPr>
          <a:xfrm>
            <a:off x="4754880" y="13716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8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688" y="18745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54880" y="2377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89204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service of both yourself and others.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995160" y="1188720"/>
            <a:ext cx="1965960" cy="23774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95160" y="1188720"/>
            <a:ext cx="196596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4" name="Text 19"/>
          <p:cNvSpPr/>
          <p:nvPr/>
        </p:nvSpPr>
        <p:spPr>
          <a:xfrm>
            <a:off x="6995160" y="13716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8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87452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995160" y="2377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71323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life worth living, not just understood.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2240280" y="2011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999BB"/>
                </a:solidFill>
              </a:rPr>
              <a:t>→</a:t>
            </a:r>
            <a:endParaRPr lang="en-US" sz="2400" dirty="0"/>
          </a:p>
        </p:txBody>
      </p:sp>
      <p:sp>
        <p:nvSpPr>
          <p:cNvPr id="29" name="Text 23"/>
          <p:cNvSpPr/>
          <p:nvPr/>
        </p:nvSpPr>
        <p:spPr>
          <a:xfrm>
            <a:off x="4480560" y="2011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999BB"/>
                </a:solidFill>
              </a:rPr>
              <a:t>→</a:t>
            </a:r>
            <a:endParaRPr lang="en-US" sz="2400" dirty="0"/>
          </a:p>
        </p:txBody>
      </p:sp>
      <p:sp>
        <p:nvSpPr>
          <p:cNvPr id="30" name="Text 24"/>
          <p:cNvSpPr/>
          <p:nvPr/>
        </p:nvSpPr>
        <p:spPr>
          <a:xfrm>
            <a:off x="6720840" y="2011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999BB"/>
                </a:solidFill>
              </a:rPr>
              <a:t>→</a:t>
            </a:r>
            <a:endParaRPr lang="en-US" sz="2400" dirty="0"/>
          </a:p>
        </p:txBody>
      </p:sp>
      <p:sp>
        <p:nvSpPr>
          <p:cNvPr id="31" name="Text 25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never prescribes a vision of the good life. It helps you discover your own.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LIBRARY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frameworks across 15 categories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697480" cy="566928"/>
          </a:xfrm>
          <a:prstGeom prst="rect">
            <a:avLst/>
          </a:prstGeom>
          <a:solidFill>
            <a:srgbClr val="4ECDC4">
              <a:alpha val="12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68880" y="12344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37560" y="1234440"/>
            <a:ext cx="2697480" cy="566928"/>
          </a:xfrm>
          <a:prstGeom prst="rect">
            <a:avLst/>
          </a:prstGeom>
          <a:solidFill>
            <a:srgbClr val="FF6B6B">
              <a:alpha val="12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Psych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49240" y="12344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217920" y="1234440"/>
            <a:ext cx="2697480" cy="566928"/>
          </a:xfrm>
          <a:prstGeom prst="rect">
            <a:avLst/>
          </a:prstGeom>
          <a:solidFill>
            <a:srgbClr val="6C5CE7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Therapy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0" y="12344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1947672"/>
            <a:ext cx="2697480" cy="566928"/>
          </a:xfrm>
          <a:prstGeom prst="rect">
            <a:avLst/>
          </a:prstGeom>
          <a:solidFill>
            <a:srgbClr val="FFD93D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1947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Function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468880" y="194767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337560" y="1947672"/>
            <a:ext cx="2697480" cy="566928"/>
          </a:xfrm>
          <a:prstGeom prst="rect">
            <a:avLst/>
          </a:prstGeom>
          <a:solidFill>
            <a:srgbClr val="FF6B6B">
              <a:alpha val="12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474720" y="1947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Trauma Recovery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49240" y="194767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17920" y="1947672"/>
            <a:ext cx="2697480" cy="566928"/>
          </a:xfrm>
          <a:prstGeom prst="rect">
            <a:avLst/>
          </a:prstGeom>
          <a:solidFill>
            <a:srgbClr val="4ECDC4">
              <a:alpha val="12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1947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0" y="194767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2660904"/>
            <a:ext cx="2697480" cy="566928"/>
          </a:xfrm>
          <a:prstGeom prst="rect">
            <a:avLst/>
          </a:prstGeom>
          <a:solidFill>
            <a:srgbClr val="6C5CE7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266090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468880" y="266090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337560" y="2660904"/>
            <a:ext cx="2697480" cy="566928"/>
          </a:xfrm>
          <a:prstGeom prst="rect">
            <a:avLst/>
          </a:prstGeom>
          <a:solidFill>
            <a:srgbClr val="FFD93D">
              <a:alpha val="1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0" y="266090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 Defense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349240" y="266090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17920" y="2660904"/>
            <a:ext cx="2697480" cy="566928"/>
          </a:xfrm>
          <a:prstGeom prst="rect">
            <a:avLst/>
          </a:prstGeom>
          <a:solidFill>
            <a:srgbClr val="FF6B6B">
              <a:alpha val="1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355080" y="266090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Somatic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0" y="266090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7200" y="3374136"/>
            <a:ext cx="2697480" cy="566928"/>
          </a:xfrm>
          <a:prstGeom prst="rect">
            <a:avLst/>
          </a:prstGeom>
          <a:solidFill>
            <a:srgbClr val="4ECDC4">
              <a:alpha val="12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594360" y="337413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Epistemology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468880" y="337413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337560" y="3374136"/>
            <a:ext cx="2697480" cy="566928"/>
          </a:xfrm>
          <a:prstGeom prst="rect">
            <a:avLst/>
          </a:prstGeom>
          <a:solidFill>
            <a:srgbClr val="6C5CE7">
              <a:alpha val="12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3474720" y="337413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49240" y="337413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217920" y="3374136"/>
            <a:ext cx="2697480" cy="566928"/>
          </a:xfrm>
          <a:prstGeom prst="rect">
            <a:avLst/>
          </a:prstGeom>
          <a:solidFill>
            <a:srgbClr val="FFD93D">
              <a:alpha val="12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355080" y="337413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Personality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229600" y="337413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57200" y="4087368"/>
            <a:ext cx="2697480" cy="566928"/>
          </a:xfrm>
          <a:prstGeom prst="rect">
            <a:avLst/>
          </a:prstGeom>
          <a:solidFill>
            <a:srgbClr val="4ECDC4">
              <a:alpha val="1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594360" y="408736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Learning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468880" y="40873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3337560" y="4087368"/>
            <a:ext cx="2697480" cy="566928"/>
          </a:xfrm>
          <a:prstGeom prst="rect">
            <a:avLst/>
          </a:prstGeom>
          <a:solidFill>
            <a:srgbClr val="FF6B6B">
              <a:alpha val="12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3474720" y="408736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349240" y="40873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17920" y="4087368"/>
            <a:ext cx="2697480" cy="566928"/>
          </a:xfrm>
          <a:prstGeom prst="rect">
            <a:avLst/>
          </a:prstGeom>
          <a:solidFill>
            <a:srgbClr val="6C5CE7">
              <a:alpha val="12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6355080" y="408736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Practice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229600" y="40873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DEEP DIVE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841248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64008" cy="841248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Minimization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2801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yourself to age 80. Ask which decision you'd regret NOT making.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8229600" cy="841248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920240"/>
            <a:ext cx="64008" cy="841248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Distortion Detection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0" y="1965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Therapy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2860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cognitive distortions in real-time: catastrophizing, all-or-nothing, should-statements.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8229600" cy="841248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926080"/>
            <a:ext cx="64008" cy="841248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2971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Four-F Survival Types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Trauma Recovery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2918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stress responses to Fight, Flight, Freeze, or Fawn. Explains disproportionate reactions.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23360"/>
            <a:ext cx="8229600" cy="777240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0690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framework has 4 files: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834640" y="40690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theory.md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834640" y="4389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explanation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89120" y="40690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template.md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89120" y="4389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Fill-in worksheet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43600" y="40690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agent-prompt.md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0" y="4389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snippet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98080" y="40690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98080" y="4389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metadata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STATUS SYSTEM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life domains with Red / Yellow / Green scoring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34440"/>
            <a:ext cx="54864" cy="57607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88720" y="1234440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&amp; Finances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34640" y="1234440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 rate, runway, income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00600" y="1234440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1" name="Shape 9"/>
          <p:cNvSpPr/>
          <p:nvPr/>
        </p:nvSpPr>
        <p:spPr>
          <a:xfrm>
            <a:off x="4800600" y="1234440"/>
            <a:ext cx="54864" cy="576072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234440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32120" y="1234440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&amp; Work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78040" y="1234440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type, stage, leverage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1947672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1947672"/>
            <a:ext cx="54864" cy="576072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947672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HLT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88720" y="1947672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Fitness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34640" y="1947672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Sleep, exercise, energy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00600" y="1947672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1947672"/>
            <a:ext cx="54864" cy="57607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1947672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532120" y="1947672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 &amp; Recreation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178040" y="1947672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type, recharge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2660904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2660904"/>
            <a:ext cx="54864" cy="576072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660904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88720" y="2660904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834640" y="2660904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work, friction level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00600" y="2660904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1" name="Shape 29"/>
          <p:cNvSpPr/>
          <p:nvPr/>
        </p:nvSpPr>
        <p:spPr>
          <a:xfrm>
            <a:off x="4800600" y="2660904"/>
            <a:ext cx="54864" cy="57607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2" name="Text 30"/>
          <p:cNvSpPr/>
          <p:nvPr/>
        </p:nvSpPr>
        <p:spPr>
          <a:xfrm>
            <a:off x="4983480" y="2660904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532120" y="2660904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178040" y="2660904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Groups, role, belonging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374136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3374136"/>
            <a:ext cx="54864" cy="576072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3374136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188720" y="3374136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&amp; Friends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834640" y="3374136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Contact, reciprocity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800600" y="3374136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1" name="Shape 39"/>
          <p:cNvSpPr/>
          <p:nvPr/>
        </p:nvSpPr>
        <p:spPr>
          <a:xfrm>
            <a:off x="4800600" y="3374136"/>
            <a:ext cx="54864" cy="57607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42" name="Text 40"/>
          <p:cNvSpPr/>
          <p:nvPr/>
        </p:nvSpPr>
        <p:spPr>
          <a:xfrm>
            <a:off x="4983480" y="3374136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532120" y="3374136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&amp; Love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178040" y="3374136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Communication, growth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" y="4087368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6" name="Shape 44"/>
          <p:cNvSpPr/>
          <p:nvPr/>
        </p:nvSpPr>
        <p:spPr>
          <a:xfrm>
            <a:off x="457200" y="4087368"/>
            <a:ext cx="54864" cy="576072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" y="4087368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188720" y="4087368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Growth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2834640" y="4087368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integration level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800600" y="4087368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0600" y="4087368"/>
            <a:ext cx="54864" cy="57607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52" name="Text 50"/>
          <p:cNvSpPr/>
          <p:nvPr/>
        </p:nvSpPr>
        <p:spPr>
          <a:xfrm>
            <a:off x="4983480" y="4087368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532120" y="4087368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Spirituality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178040" y="4087368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Practice, frequency, depth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&amp; DECISIONS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347472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3931920" cy="45720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097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RECORDS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1600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relationship tracked with: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31520" y="2011680"/>
            <a:ext cx="3474720" cy="347472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201168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%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194560" y="20116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they support you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31520" y="2450592"/>
            <a:ext cx="3474720" cy="347472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245059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%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194560" y="2450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they push you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31520" y="2889504"/>
            <a:ext cx="3474720" cy="347472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28895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%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194560" y="288950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give back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31520" y="3328416"/>
            <a:ext cx="3474720" cy="347472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332841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Met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194560" y="33284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provide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31520" y="3767328"/>
            <a:ext cx="3474720" cy="347472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37673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Unmet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194560" y="37673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754880" y="914400"/>
            <a:ext cx="3931920" cy="347472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754880" y="914400"/>
            <a:ext cx="3931920" cy="45720"/>
          </a:xfrm>
          <a:prstGeom prst="rect">
            <a:avLst/>
          </a:prstGeom>
          <a:solidFill>
            <a:srgbClr val="FFD93D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43000"/>
            <a:ext cx="320040" cy="3200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486400" y="1097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LEDGER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5029200" y="1600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tracked with: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029200" y="2011680"/>
            <a:ext cx="3474720" cy="347472"/>
          </a:xfrm>
          <a:prstGeom prst="rect">
            <a:avLst/>
          </a:prstGeom>
          <a:solidFill>
            <a:srgbClr val="FFD93D">
              <a:alpha val="8000"/>
            </a:srgbClr>
          </a:solidFill>
          <a:ln/>
        </p:spPr>
      </p:sp>
      <p:sp>
        <p:nvSpPr>
          <p:cNvPr id="30" name="Text 26"/>
          <p:cNvSpPr/>
          <p:nvPr/>
        </p:nvSpPr>
        <p:spPr>
          <a:xfrm>
            <a:off x="5212080" y="201168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6492240" y="20116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/ Decided / Revisiting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5029200" y="2450592"/>
            <a:ext cx="3474720" cy="347472"/>
          </a:xfrm>
          <a:prstGeom prst="rect">
            <a:avLst/>
          </a:prstGeom>
          <a:solidFill>
            <a:srgbClr val="FFD93D">
              <a:alpha val="8000"/>
            </a:srgbClr>
          </a:solidFill>
          <a:ln/>
        </p:spPr>
      </p:sp>
      <p:sp>
        <p:nvSpPr>
          <p:cNvPr id="33" name="Text 29"/>
          <p:cNvSpPr/>
          <p:nvPr/>
        </p:nvSpPr>
        <p:spPr>
          <a:xfrm>
            <a:off x="5212080" y="245059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Reversibility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6492240" y="2450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door or two-way?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5029200" y="2889504"/>
            <a:ext cx="3474720" cy="347472"/>
          </a:xfrm>
          <a:prstGeom prst="rect">
            <a:avLst/>
          </a:prstGeom>
          <a:solidFill>
            <a:srgbClr val="FFD93D">
              <a:alpha val="8000"/>
            </a:srgbClr>
          </a:solidFill>
          <a:ln/>
        </p:spPr>
      </p:sp>
      <p:sp>
        <p:nvSpPr>
          <p:cNvPr id="36" name="Text 32"/>
          <p:cNvSpPr/>
          <p:nvPr/>
        </p:nvSpPr>
        <p:spPr>
          <a:xfrm>
            <a:off x="5212080" y="28895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Affected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6492240" y="288950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awareness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5029200" y="3328416"/>
            <a:ext cx="3474720" cy="347472"/>
          </a:xfrm>
          <a:prstGeom prst="rect">
            <a:avLst/>
          </a:prstGeom>
          <a:solidFill>
            <a:srgbClr val="FFD93D">
              <a:alpha val="8000"/>
            </a:srgbClr>
          </a:solidFill>
          <a:ln/>
        </p:spPr>
      </p:sp>
      <p:sp>
        <p:nvSpPr>
          <p:cNvPr id="39" name="Text 35"/>
          <p:cNvSpPr/>
          <p:nvPr/>
        </p:nvSpPr>
        <p:spPr>
          <a:xfrm>
            <a:off x="5212080" y="332841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Links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6492240" y="33284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life areas impacted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5029200" y="3767328"/>
            <a:ext cx="3474720" cy="347472"/>
          </a:xfrm>
          <a:prstGeom prst="rect">
            <a:avLst/>
          </a:prstGeom>
          <a:solidFill>
            <a:srgbClr val="FFD93D">
              <a:alpha val="8000"/>
            </a:srgbClr>
          </a:solidFill>
          <a:ln/>
        </p:spPr>
      </p:sp>
      <p:sp>
        <p:nvSpPr>
          <p:cNvPr id="42" name="Text 38"/>
          <p:cNvSpPr/>
          <p:nvPr/>
        </p:nvSpPr>
        <p:spPr>
          <a:xfrm>
            <a:off x="5212080" y="37673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Check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6492240" y="37673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self validation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 AGENT ARCHETYPES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269748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430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Mirror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 across weeks. Like a letter from a friend who knows you deeply.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96012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960120"/>
            <a:ext cx="269748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1430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383280" y="15087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"3 things that matter today." Sharp chief of staff. State-paced intensity.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96012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960120"/>
            <a:ext cx="269748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1430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Tracker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63640" y="15087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said X. You did Y." Terse, factual, no judgment. Tracks streaks &amp; gaps.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926080"/>
            <a:ext cx="2697480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31089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Watcher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02920" y="347472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changes across repos, docs, status. Flags drift. Methodical completist.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46120" y="292608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46120" y="2926080"/>
            <a:ext cx="269748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31089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Strategist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383280" y="347472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pipelines. Flags stalls. Asks "who else does this matter to?" Strategic, direct.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0" y="292608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2926080"/>
            <a:ext cx="269748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6" name="Text 24"/>
          <p:cNvSpPr/>
          <p:nvPr/>
        </p:nvSpPr>
        <p:spPr>
          <a:xfrm>
            <a:off x="6263640" y="31089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263640" y="347472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ops. Watches signals, drafts responses. Operational, brief.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0" y="2743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 Skill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2004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05840"/>
            <a:ext cx="54864" cy="731520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430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051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Journals, notes, plans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1920240"/>
            <a:ext cx="32004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920240"/>
            <a:ext cx="54864" cy="731520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74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1965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1188720" y="22677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interview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57200" y="2834640"/>
            <a:ext cx="32004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6" name="Shape 12"/>
          <p:cNvSpPr/>
          <p:nvPr/>
        </p:nvSpPr>
        <p:spPr>
          <a:xfrm>
            <a:off x="457200" y="2834640"/>
            <a:ext cx="54864" cy="731520"/>
          </a:xfrm>
          <a:prstGeom prst="rect">
            <a:avLst/>
          </a:prstGeom>
          <a:solidFill>
            <a:srgbClr val="FFD93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718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88720" y="2880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Services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88720" y="31821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Calendar, Slack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457200" y="3749040"/>
            <a:ext cx="32004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1" name="Shape 16"/>
          <p:cNvSpPr/>
          <p:nvPr/>
        </p:nvSpPr>
        <p:spPr>
          <a:xfrm>
            <a:off x="457200" y="3749040"/>
            <a:ext cx="54864" cy="731520"/>
          </a:xfrm>
          <a:prstGeom prst="rect">
            <a:avLst/>
          </a:prstGeom>
          <a:solidFill>
            <a:srgbClr val="6C5CE7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8862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88720" y="3794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Analysis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188720" y="4096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config files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3931920" y="1645920"/>
            <a:ext cx="1463040" cy="1645920"/>
          </a:xfrm>
          <a:prstGeom prst="rect">
            <a:avLst/>
          </a:prstGeom>
          <a:solidFill>
            <a:srgbClr val="FFD93D">
              <a:alpha val="15000"/>
            </a:srgbClr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1828800"/>
            <a:ext cx="548640" cy="5486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931920" y="24231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93192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→ Match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5669280" y="1097280"/>
            <a:ext cx="3017520" cy="640080"/>
          </a:xfrm>
          <a:prstGeom prst="rect">
            <a:avLst/>
          </a:prstGeom>
          <a:solidFill>
            <a:srgbClr val="4ECDC4">
              <a:alpha val="12000"/>
            </a:srgbClr>
          </a:solidFill>
          <a:ln/>
        </p:spPr>
      </p:sp>
      <p:sp>
        <p:nvSpPr>
          <p:cNvPr id="30" name="Text 23"/>
          <p:cNvSpPr/>
          <p:nvPr/>
        </p:nvSpPr>
        <p:spPr>
          <a:xfrm>
            <a:off x="5852160" y="1097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domains populated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5669280" y="1965960"/>
            <a:ext cx="3017520" cy="640080"/>
          </a:xfrm>
          <a:prstGeom prst="rect">
            <a:avLst/>
          </a:prstGeom>
          <a:solidFill>
            <a:srgbClr val="FF6B6B">
              <a:alpha val="12000"/>
            </a:srgbClr>
          </a:solidFill>
          <a:ln/>
        </p:spPr>
      </p:sp>
      <p:sp>
        <p:nvSpPr>
          <p:cNvPr id="32" name="Text 25"/>
          <p:cNvSpPr/>
          <p:nvPr/>
        </p:nvSpPr>
        <p:spPr>
          <a:xfrm>
            <a:off x="5852160" y="1965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records created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669280" y="2834640"/>
            <a:ext cx="3017520" cy="640080"/>
          </a:xfrm>
          <a:prstGeom prst="rect">
            <a:avLst/>
          </a:prstGeom>
          <a:solidFill>
            <a:srgbClr val="6C5CE7">
              <a:alpha val="12000"/>
            </a:srgbClr>
          </a:solidFill>
          <a:ln/>
        </p:spPr>
      </p:sp>
      <p:sp>
        <p:nvSpPr>
          <p:cNvPr id="34" name="Text 27"/>
          <p:cNvSpPr/>
          <p:nvPr/>
        </p:nvSpPr>
        <p:spPr>
          <a:xfrm>
            <a:off x="5852160" y="28346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Personality profiles started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5669280" y="3703320"/>
            <a:ext cx="3017520" cy="640080"/>
          </a:xfrm>
          <a:prstGeom prst="rect">
            <a:avLst/>
          </a:prstGeom>
          <a:solidFill>
            <a:srgbClr val="FFD93D">
              <a:alpha val="12000"/>
            </a:srgbClr>
          </a:solidFill>
          <a:ln/>
        </p:spPr>
      </p:sp>
      <p:sp>
        <p:nvSpPr>
          <p:cNvPr id="36" name="Text 29"/>
          <p:cNvSpPr/>
          <p:nvPr/>
        </p:nvSpPr>
        <p:spPr>
          <a:xfrm>
            <a:off x="5852160" y="37033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recommendations</a:t>
            </a:r>
            <a:endParaRPr lang="en-US" sz="1200" dirty="0"/>
          </a:p>
        </p:txBody>
      </p:sp>
      <p:sp>
        <p:nvSpPr>
          <p:cNvPr id="37" name="Text 30"/>
          <p:cNvSpPr/>
          <p:nvPr/>
        </p:nvSpPr>
        <p:spPr>
          <a:xfrm>
            <a:off x="3657600" y="21031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D93D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Text 31"/>
          <p:cNvSpPr/>
          <p:nvPr/>
        </p:nvSpPr>
        <p:spPr>
          <a:xfrm>
            <a:off x="5349240" y="21031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D93D"/>
                </a:solidFill>
              </a:rPr>
              <a:t>→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CONTINUOUS LEARNING LOOP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interaction is a data point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2697480" cy="22860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63040"/>
            <a:ext cx="269748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645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" y="21031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5146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detects a signal in conversation and proposes a 1-line update to the relevant status domain, people record, or decision.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697480" cy="22860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463040"/>
            <a:ext cx="269748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1645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246120" y="21031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25146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reviews with a simple yes/no. No forms, no friction. Skip if it doesn't resonate.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463040"/>
            <a:ext cx="2697480" cy="22860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463040"/>
            <a:ext cx="269748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645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126480" y="21031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5146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writes the update. Over weeks and months, builds a progressively richer model of who you are.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632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999BB"/>
                </a:solidFill>
              </a:rPr>
              <a:t>→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94360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999BB"/>
                </a:solidFill>
              </a:rPr>
              <a:t>→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friction is mandatory. The system proposes. You confirm or skip.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THIS DIFFERENT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502920"/>
          </a:xfrm>
          <a:prstGeom prst="rect">
            <a:avLst/>
          </a:prstGeom>
          <a:solidFill>
            <a:srgbClr val="9999B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APPROACH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502920"/>
          </a:xfrm>
          <a:prstGeom prst="rect">
            <a:avLst/>
          </a:prstGeom>
          <a:solidFill>
            <a:srgbClr val="4ECDC4">
              <a:alpha val="2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914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PALACE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0876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problems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508760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50876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problems AND thriving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75688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07568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what others do for you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075688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207568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what you give AND receive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642616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64261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analyze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2642616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264261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state, back off when needed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209544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20954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endlessly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54880" y="3209544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0954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 enough is enough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3776472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776472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Self-focused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54880" y="3776472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776472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Stakeholder-aware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4343400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34340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as the goal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54880" y="4343400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434340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in service of a fulfilling life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PRACTICE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0" y="2743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/ day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114800" cy="16916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54864" cy="1691640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Briefing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657600" y="1143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sec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85800" y="1645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things that matter today. Leads with what's working. Adjusts intensity to your energy.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00600" y="1005840"/>
            <a:ext cx="4114800" cy="16916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00600" y="1005840"/>
            <a:ext cx="54864" cy="1691640"/>
          </a:xfrm>
          <a:prstGeom prst="rect">
            <a:avLst/>
          </a:prstGeom>
          <a:solidFill>
            <a:srgbClr val="6C5CE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3212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001000" y="1143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sec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5029200" y="1645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evening review. What happened vs what was planned? What did you learn?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2880360"/>
            <a:ext cx="4114800" cy="16916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7200" y="2880360"/>
            <a:ext cx="54864" cy="1691640"/>
          </a:xfrm>
          <a:prstGeom prst="rect">
            <a:avLst/>
          </a:prstGeom>
          <a:solidFill>
            <a:srgbClr val="FFD93D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6324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8872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3657600" y="3017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sec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685800" y="35204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are you actually doing? State read before analysis. Naming is sometimes enough.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4800600" y="2880360"/>
            <a:ext cx="4114800" cy="16916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800600" y="2880360"/>
            <a:ext cx="54864" cy="1691640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06324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53212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of the Day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8001000" y="3017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sec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029200" y="35204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framework surfaced based on current patterns. Read the theory, apply the template.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Claude Code and OpenClaw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31920" cy="301752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393192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REPO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356616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103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references Mirror Palace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606040"/>
            <a:ext cx="356616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606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continuous learning hooks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108960"/>
            <a:ext cx="356616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1089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deployed archetypes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356616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6118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agent memory store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51960" y="22860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4ECDC4"/>
                </a:solidFill>
              </a:rPr>
              <a:t>↔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251960" y="28346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251960" y="30175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4880" y="1371600"/>
            <a:ext cx="3931920" cy="301752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371600"/>
            <a:ext cx="393192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PALACE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937760" y="2103120"/>
            <a:ext cx="356616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0" y="2103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knowledge layer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937760" y="2606040"/>
            <a:ext cx="356616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120640" y="2606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your life data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37760" y="3108960"/>
            <a:ext cx="356616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0" y="31089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archetypes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937760" y="3611880"/>
            <a:ext cx="356616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0" y="36118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scan + setup + create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ACTUALLY USE IT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+ Telegram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32004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80160"/>
            <a:ext cx="3931920" cy="45720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1965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agent runtime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1520" y="2377440"/>
            <a:ext cx="347472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237744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runtime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103120" y="23774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your Mirror Palace agents locally or in the cloud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31520" y="2852928"/>
            <a:ext cx="347472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285292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LLM backend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103120" y="28529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GPT, local models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31520" y="3328416"/>
            <a:ext cx="347472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" y="332841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Multi-channel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103120" y="332841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Telegram, Discord, web, CLI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31520" y="3803904"/>
            <a:ext cx="347472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914400" y="380390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103120" y="380390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the infrastructure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754880" y="1280160"/>
            <a:ext cx="3931920" cy="32004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754880" y="1280160"/>
            <a:ext cx="3931920" cy="45720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508760"/>
            <a:ext cx="320040" cy="32004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48640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500" dirty="0"/>
          </a:p>
        </p:txBody>
      </p:sp>
      <p:sp>
        <p:nvSpPr>
          <p:cNvPr id="26" name="Text 22"/>
          <p:cNvSpPr/>
          <p:nvPr/>
        </p:nvSpPr>
        <p:spPr>
          <a:xfrm>
            <a:off x="5029200" y="1965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conversational loop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029200" y="2377440"/>
            <a:ext cx="347472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28" name="Text 24"/>
          <p:cNvSpPr/>
          <p:nvPr/>
        </p:nvSpPr>
        <p:spPr>
          <a:xfrm>
            <a:off x="5212080" y="2377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push to you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6583680" y="23774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briefings, pattern alerts, drift warnings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5029200" y="2852928"/>
            <a:ext cx="347472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31" name="Text 27"/>
          <p:cNvSpPr/>
          <p:nvPr/>
        </p:nvSpPr>
        <p:spPr>
          <a:xfrm>
            <a:off x="5212080" y="28529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talk back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6583680" y="285292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frameworks, update status, ask questions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5029200" y="3328416"/>
            <a:ext cx="347472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34" name="Text 30"/>
          <p:cNvSpPr/>
          <p:nvPr/>
        </p:nvSpPr>
        <p:spPr>
          <a:xfrm>
            <a:off x="5212080" y="332841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conversations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6583680" y="33284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commands. Real dialogue with your agents.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5029200" y="3803904"/>
            <a:ext cx="347472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37" name="Text 33"/>
          <p:cNvSpPr/>
          <p:nvPr/>
        </p:nvSpPr>
        <p:spPr>
          <a:xfrm>
            <a:off x="5212080" y="38039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phone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6583680" y="38039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install. Works anywhere Telegram does.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ECOSYSTEM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Palace as a knowledge layer for any agent runtime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10058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80160"/>
            <a:ext cx="64008" cy="100584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132320" y="1389888"/>
            <a:ext cx="1280160" cy="274320"/>
          </a:xfrm>
          <a:prstGeom prst="rect">
            <a:avLst/>
          </a:prstGeom>
          <a:solidFill>
            <a:srgbClr val="4ECDC4">
              <a:alpha val="2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7132320" y="1389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17373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integration via CLAUDE.md and AGENTS.md. Agents read frameworks, update status, and apply patterns in every session.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8229600" cy="10058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68880"/>
            <a:ext cx="64008" cy="100584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132320" y="2578608"/>
            <a:ext cx="1280160" cy="274320"/>
          </a:xfrm>
          <a:prstGeom prst="rect">
            <a:avLst/>
          </a:prstGeom>
          <a:solidFill>
            <a:srgbClr val="4ECDC4">
              <a:alpha val="2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0" y="25786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29260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agent runtime with Telegram, Discord, and web channels. Full conversational loop with your Mirror Palace agents from your phone.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657600"/>
            <a:ext cx="64008" cy="100584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749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Managed Agents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132320" y="3767328"/>
            <a:ext cx="1280160" cy="274320"/>
          </a:xfrm>
          <a:prstGeom prst="rect">
            <a:avLst/>
          </a:prstGeom>
          <a:solidFill>
            <a:srgbClr val="FFD93D">
              <a:alpha val="2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0" y="37673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" y="41148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Anthropic's new managed infrastructure for autonomous agents. Persistent state, sandboxed execution, long-running tasks. Mirror Palace provides the self-knowledge layer.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6C5CE7">
              <a:alpha val="1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pattern: frameworks are the knowledge layer. The runtime is swappable.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IS GOING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solidFill>
            <a:srgbClr val="FFD93D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14400"/>
            <a:ext cx="64008" cy="91440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9144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platforms are converging on persistent, stateful agents. The missing piece isn't better tooling. It's better understanding of the human in the loop.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103120"/>
            <a:ext cx="54864" cy="7315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2240280"/>
            <a:ext cx="1097280" cy="274320"/>
          </a:xfrm>
          <a:prstGeom prst="rect">
            <a:avLst/>
          </a:prstGeom>
          <a:solidFill>
            <a:srgbClr val="4ECDC4">
              <a:alpha val="2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40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11680" y="21488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integration, OpenClaw + Telegram, continuous learning protocol active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3017520"/>
            <a:ext cx="54864" cy="7315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3154680"/>
            <a:ext cx="1097280" cy="274320"/>
          </a:xfrm>
          <a:prstGeom prst="rect">
            <a:avLst/>
          </a:prstGeom>
          <a:solidFill>
            <a:srgbClr val="6C5CE7">
              <a:alpha val="2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54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11680" y="30632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Managed Agents with persistent Mirror Palace state, long-running agent threads that remember your patterns across sessions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3931920"/>
            <a:ext cx="54864" cy="7315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9" name="Shape 17"/>
          <p:cNvSpPr/>
          <p:nvPr/>
        </p:nvSpPr>
        <p:spPr>
          <a:xfrm>
            <a:off x="731520" y="4069080"/>
            <a:ext cx="1097280" cy="274320"/>
          </a:xfrm>
          <a:prstGeom prst="rect">
            <a:avLst/>
          </a:prstGeom>
          <a:solidFill>
            <a:srgbClr val="FFD93D">
              <a:alpha val="2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069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011680" y="39776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agent runtime that supports structured memory can load Mirror Palace. Your self-knowledge travels with you across platforms.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owns the self-knowledge layer wins the agent UX war.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POINT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731520"/>
          </a:xfrm>
          <a:prstGeom prst="rect">
            <a:avLst/>
          </a:prstGeom>
          <a:solidFill>
            <a:srgbClr val="FFD93D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22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knows when "I'll start Monday" means "I'm avoiding this."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8229600" cy="502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737360"/>
            <a:ext cx="54864" cy="5029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7373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your calendar fills up, it's not ambition. It's over-commitment.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8229600" cy="502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359152"/>
            <a:ext cx="54864" cy="5029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35915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go quiet in relationships, it's a pattern, not a preference.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980944"/>
            <a:ext cx="8229600" cy="502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980944"/>
            <a:ext cx="54864" cy="5029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980944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compare yourself to others, your self-worth is untethered from your actual work.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602736"/>
            <a:ext cx="8229600" cy="502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602736"/>
            <a:ext cx="54864" cy="5029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60273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start something new with intense energy, the follow-through is the real test.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224528"/>
            <a:ext cx="8229600" cy="502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4224528"/>
            <a:ext cx="54864" cy="5029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22452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knowledge, structured and continuously updated, turns an assistant into a thinking partner.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4114800" cy="4114800"/>
          </a:xfrm>
          <a:prstGeom prst="ellipse">
            <a:avLst/>
          </a:prstGeom>
          <a:solidFill>
            <a:srgbClr val="4ECDC4">
              <a:alpha val="7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6C5CE7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36576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417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agents that actually understand</a:t>
            </a:r>
            <a:endParaRPr lang="en-US" sz="2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humans they serve.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743200" y="2331720"/>
            <a:ext cx="3657600" cy="502920"/>
          </a:xfrm>
          <a:prstGeom prst="rect">
            <a:avLst/>
          </a:prstGeom>
          <a:solidFill>
            <a:srgbClr val="4ECDC4">
              <a:alpha val="1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274320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 ·  MIT Licensed  ·  GitHub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github.com/TaylorONeal/mirror-palace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NOW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3840480"/>
            <a:ext cx="2651760" cy="9601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3" name="Shape 10"/>
          <p:cNvSpPr/>
          <p:nvPr/>
        </p:nvSpPr>
        <p:spPr>
          <a:xfrm>
            <a:off x="457200" y="3840480"/>
            <a:ext cx="2651760" cy="36576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931920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FRAMEWORK-MAP.md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" y="420624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reference with all 36 frameworks, categories, and connections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291840" y="3840480"/>
            <a:ext cx="2651760" cy="9601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7" name="Shape 14"/>
          <p:cNvSpPr/>
          <p:nvPr/>
        </p:nvSpPr>
        <p:spPr>
          <a:xfrm>
            <a:off x="3291840" y="3840480"/>
            <a:ext cx="2651760" cy="36576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8" name="Text 15"/>
          <p:cNvSpPr/>
          <p:nvPr/>
        </p:nvSpPr>
        <p:spPr>
          <a:xfrm>
            <a:off x="3401568" y="3931920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framework-map.html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401568" y="420624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visual map with Mermaid diagrams. Open in any browser.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126480" y="3840480"/>
            <a:ext cx="2651760" cy="9601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1" name="Shape 18"/>
          <p:cNvSpPr/>
          <p:nvPr/>
        </p:nvSpPr>
        <p:spPr>
          <a:xfrm>
            <a:off x="6126480" y="3840480"/>
            <a:ext cx="2651760" cy="36576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22" name="Text 19"/>
          <p:cNvSpPr/>
          <p:nvPr/>
        </p:nvSpPr>
        <p:spPr>
          <a:xfrm>
            <a:off x="6236208" y="3931920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docs/routing-layer-task-status.md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236208" y="420624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layer implementation status and continuation instructions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6B6B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Mirror Palace: Teaching AI Agents How You Work</dc:title>
  <dc:subject>PptxGenJS Presentation</dc:subject>
  <dc:creator>Taylor O'Neal</dc:creator>
  <cp:lastModifiedBy>Taylor O'Neal</cp:lastModifiedBy>
  <cp:revision>1</cp:revision>
  <dcterms:created xsi:type="dcterms:W3CDTF">2026-04-16T16:14:08Z</dcterms:created>
  <dcterms:modified xsi:type="dcterms:W3CDTF">2026-04-16T16:14:08Z</dcterms:modified>
</cp:coreProperties>
</file>